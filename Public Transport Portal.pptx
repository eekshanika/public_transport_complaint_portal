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bin" panose="020B0604020202020204" charset="0"/>
      <p:regular r:id="rId9"/>
    </p:embeddedFont>
    <p:embeddedFont>
      <p:font typeface="Cabin Bold" panose="020B0604020202020204" charset="0"/>
      <p:regular r:id="rId10"/>
    </p:embeddedFont>
    <p:embeddedFont>
      <p:font typeface="Cabin Medium" panose="020B0604020202020204" charset="0"/>
      <p:regular r:id="rId11"/>
    </p:embeddedFont>
    <p:embeddedFont>
      <p:font typeface="Canva Sans" panose="020B0604020202020204" charset="0"/>
      <p:regular r:id="rId12"/>
    </p:embeddedFont>
    <p:embeddedFont>
      <p:font typeface="Rosario" panose="020B0604020202020204" charset="0"/>
      <p:regular r:id="rId13"/>
    </p:embeddedFont>
    <p:embeddedFont>
      <p:font typeface="Rosario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ki maithreyee" userId="fbf6b031d3ebbce5" providerId="LiveId" clId="{6FBBACF9-05BB-40ED-8D1B-AEFE66BAAF57}"/>
    <pc:docChg chg="modSld">
      <pc:chgData name="doki maithreyee" userId="fbf6b031d3ebbce5" providerId="LiveId" clId="{6FBBACF9-05BB-40ED-8D1B-AEFE66BAAF57}" dt="2026-10-10T04:23:06.909" v="11" actId="1076"/>
      <pc:docMkLst>
        <pc:docMk/>
      </pc:docMkLst>
      <pc:sldChg chg="modSp mod">
        <pc:chgData name="doki maithreyee" userId="fbf6b031d3ebbce5" providerId="LiveId" clId="{6FBBACF9-05BB-40ED-8D1B-AEFE66BAAF57}" dt="2026-10-10T04:23:06.909" v="11" actId="1076"/>
        <pc:sldMkLst>
          <pc:docMk/>
          <pc:sldMk cId="0" sldId="256"/>
        </pc:sldMkLst>
        <pc:spChg chg="mod">
          <ac:chgData name="doki maithreyee" userId="fbf6b031d3ebbce5" providerId="LiveId" clId="{6FBBACF9-05BB-40ED-8D1B-AEFE66BAAF57}" dt="2026-10-10T04:19:04.405" v="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ki maithreyee" userId="fbf6b031d3ebbce5" providerId="LiveId" clId="{6FBBACF9-05BB-40ED-8D1B-AEFE66BAAF57}" dt="2026-10-10T04:23:06.909" v="1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oki maithreyee" userId="fbf6b031d3ebbce5" providerId="LiveId" clId="{6FBBACF9-05BB-40ED-8D1B-AEFE66BAAF57}" dt="2026-10-10T04:22:33.231" v="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doki maithreyee" userId="fbf6b031d3ebbce5" providerId="LiveId" clId="{6FBBACF9-05BB-40ED-8D1B-AEFE66BAAF57}" dt="2026-10-10T04:22:01.002" v="5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64086" y="126062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05382" y="2880579"/>
            <a:ext cx="7853340" cy="5367606"/>
          </a:xfrm>
          <a:custGeom>
            <a:avLst/>
            <a:gdLst/>
            <a:ahLst/>
            <a:cxnLst/>
            <a:rect l="l" t="t" r="r" b="b"/>
            <a:pathLst>
              <a:path w="7853340" h="5367606">
                <a:moveTo>
                  <a:pt x="0" y="0"/>
                </a:moveTo>
                <a:lnTo>
                  <a:pt x="7853340" y="0"/>
                </a:lnTo>
                <a:lnTo>
                  <a:pt x="785334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73598" y="7280704"/>
            <a:ext cx="12414402" cy="3006296"/>
          </a:xfrm>
          <a:custGeom>
            <a:avLst/>
            <a:gdLst/>
            <a:ahLst/>
            <a:cxnLst/>
            <a:rect l="l" t="t" r="r" b="b"/>
            <a:pathLst>
              <a:path w="12414402" h="3006296">
                <a:moveTo>
                  <a:pt x="0" y="0"/>
                </a:moveTo>
                <a:lnTo>
                  <a:pt x="12414402" y="0"/>
                </a:lnTo>
                <a:lnTo>
                  <a:pt x="1241440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08086" y="7707051"/>
            <a:ext cx="6540804" cy="1945894"/>
          </a:xfrm>
          <a:custGeom>
            <a:avLst/>
            <a:gdLst/>
            <a:ahLst/>
            <a:cxnLst/>
            <a:rect l="l" t="t" r="r" b="b"/>
            <a:pathLst>
              <a:path w="6540804" h="1945894">
                <a:moveTo>
                  <a:pt x="0" y="0"/>
                </a:moveTo>
                <a:lnTo>
                  <a:pt x="6540804" y="0"/>
                </a:lnTo>
                <a:lnTo>
                  <a:pt x="6540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92622" y="7280704"/>
            <a:ext cx="1531292" cy="1934962"/>
          </a:xfrm>
          <a:custGeom>
            <a:avLst/>
            <a:gdLst/>
            <a:ahLst/>
            <a:cxnLst/>
            <a:rect l="l" t="t" r="r" b="b"/>
            <a:pathLst>
              <a:path w="1531292" h="1934962">
                <a:moveTo>
                  <a:pt x="0" y="0"/>
                </a:moveTo>
                <a:lnTo>
                  <a:pt x="1531292" y="0"/>
                </a:lnTo>
                <a:lnTo>
                  <a:pt x="153129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790" y="2994539"/>
            <a:ext cx="8149809" cy="248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8"/>
              </a:lnSpc>
            </a:pPr>
            <a:r>
              <a:rPr lang="en-US" sz="6488" b="1" dirty="0">
                <a:solidFill>
                  <a:srgbClr val="082D4D"/>
                </a:solidFill>
                <a:latin typeface="Rosario Bold"/>
                <a:ea typeface="Rosario Bold"/>
                <a:cs typeface="Rosario Bold"/>
                <a:sym typeface="Rosario Bold"/>
              </a:rPr>
              <a:t>PUBLIC</a:t>
            </a:r>
          </a:p>
          <a:p>
            <a:pPr algn="l">
              <a:lnSpc>
                <a:spcPts val="6488"/>
              </a:lnSpc>
            </a:pPr>
            <a:r>
              <a:rPr lang="en-US" sz="6488" b="1" dirty="0">
                <a:solidFill>
                  <a:srgbClr val="082D4D"/>
                </a:solidFill>
                <a:latin typeface="Rosario Bold"/>
                <a:ea typeface="Rosario Bold"/>
                <a:cs typeface="Rosario Bold"/>
                <a:sym typeface="Rosario Bold"/>
              </a:rPr>
              <a:t>TRANSPORT</a:t>
            </a:r>
          </a:p>
          <a:p>
            <a:pPr algn="l">
              <a:lnSpc>
                <a:spcPts val="6488"/>
              </a:lnSpc>
            </a:pPr>
            <a:r>
              <a:rPr lang="en-US" sz="6488" b="1" dirty="0">
                <a:solidFill>
                  <a:srgbClr val="082D4D"/>
                </a:solidFill>
                <a:latin typeface="Rosario Bold"/>
                <a:ea typeface="Rosario Bold"/>
                <a:cs typeface="Rosario Bold"/>
                <a:sym typeface="Rosario Bold"/>
              </a:rPr>
              <a:t>COMPLAINT PORTAL</a:t>
            </a:r>
          </a:p>
        </p:txBody>
      </p:sp>
      <p:sp>
        <p:nvSpPr>
          <p:cNvPr id="8" name="Freeform 8"/>
          <p:cNvSpPr/>
          <p:nvPr/>
        </p:nvSpPr>
        <p:spPr>
          <a:xfrm>
            <a:off x="-891401" y="-515176"/>
            <a:ext cx="18752827" cy="2521245"/>
          </a:xfrm>
          <a:custGeom>
            <a:avLst/>
            <a:gdLst/>
            <a:ahLst/>
            <a:cxnLst/>
            <a:rect l="l" t="t" r="r" b="b"/>
            <a:pathLst>
              <a:path w="18288000" h="2521245">
                <a:moveTo>
                  <a:pt x="0" y="0"/>
                </a:moveTo>
                <a:lnTo>
                  <a:pt x="18288000" y="0"/>
                </a:lnTo>
                <a:lnTo>
                  <a:pt x="18288000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47" t="-19251" r="-74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315" y="5816820"/>
            <a:ext cx="6770019" cy="105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093" b="1">
                <a:solidFill>
                  <a:srgbClr val="082D4D"/>
                </a:solidFill>
                <a:latin typeface="Cabin Medium"/>
                <a:ea typeface="Cabin Medium"/>
                <a:cs typeface="Cabin Medium"/>
                <a:sym typeface="Cabin Medium"/>
              </a:rPr>
              <a:t>A MERN-based system for reporting and</a:t>
            </a:r>
          </a:p>
          <a:p>
            <a:pPr algn="l">
              <a:lnSpc>
                <a:spcPts val="4331"/>
              </a:lnSpc>
            </a:pPr>
            <a:r>
              <a:rPr lang="en-US" sz="3093" b="1">
                <a:solidFill>
                  <a:srgbClr val="082D4D"/>
                </a:solidFill>
                <a:latin typeface="Cabin Medium"/>
                <a:ea typeface="Cabin Medium"/>
                <a:cs typeface="Cabin Medium"/>
                <a:sym typeface="Cabin Medium"/>
              </a:rPr>
              <a:t>managing transport issues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790" y="7879246"/>
            <a:ext cx="6565234" cy="293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2391" dirty="0">
                <a:solidFill>
                  <a:srgbClr val="082D4D"/>
                </a:solidFill>
                <a:latin typeface="Canva Sans"/>
                <a:ea typeface="Canva Sans"/>
                <a:cs typeface="Canva Sans"/>
                <a:sym typeface="Canva Sans"/>
              </a:rPr>
              <a:t>Presented by:</a:t>
            </a:r>
          </a:p>
          <a:p>
            <a:pPr algn="ctr">
              <a:lnSpc>
                <a:spcPts val="3347"/>
              </a:lnSpc>
            </a:pPr>
            <a:r>
              <a:rPr lang="en-US" sz="2391" dirty="0">
                <a:solidFill>
                  <a:srgbClr val="082D4D"/>
                </a:solidFill>
                <a:latin typeface="Canva Sans"/>
                <a:ea typeface="Canva Sans"/>
                <a:cs typeface="Canva Sans"/>
                <a:sym typeface="Canva Sans"/>
              </a:rPr>
              <a:t>Y.Akshaya-25MVCSMR0274</a:t>
            </a:r>
          </a:p>
          <a:p>
            <a:pPr algn="ctr">
              <a:lnSpc>
                <a:spcPts val="3347"/>
              </a:lnSpc>
            </a:pPr>
            <a:r>
              <a:rPr lang="en-US" sz="2391" dirty="0">
                <a:solidFill>
                  <a:srgbClr val="082D4D"/>
                </a:solidFill>
                <a:latin typeface="Canva Sans"/>
                <a:ea typeface="Canva Sans"/>
                <a:cs typeface="Canva Sans"/>
                <a:sym typeface="Canva Sans"/>
              </a:rPr>
              <a:t>M.Rajeshwari-25MVCSMR0239</a:t>
            </a:r>
          </a:p>
          <a:p>
            <a:pPr algn="ctr">
              <a:lnSpc>
                <a:spcPts val="3347"/>
              </a:lnSpc>
            </a:pPr>
            <a:r>
              <a:rPr lang="en-US" sz="2391" dirty="0">
                <a:solidFill>
                  <a:srgbClr val="082D4D"/>
                </a:solidFill>
                <a:latin typeface="Canva Sans"/>
                <a:ea typeface="Canva Sans"/>
                <a:cs typeface="Canva Sans"/>
                <a:sym typeface="Canva Sans"/>
              </a:rPr>
              <a:t>D.Maithreyee-25MVCSMR0213</a:t>
            </a:r>
          </a:p>
          <a:p>
            <a:pPr algn="ctr">
              <a:lnSpc>
                <a:spcPts val="3347"/>
              </a:lnSpc>
            </a:pPr>
            <a:r>
              <a:rPr lang="en-US" sz="2391" dirty="0">
                <a:solidFill>
                  <a:srgbClr val="082D4D"/>
                </a:solidFill>
                <a:latin typeface="Canva Sans"/>
                <a:ea typeface="Canva Sans"/>
                <a:cs typeface="Canva Sans"/>
                <a:sym typeface="Canva Sans"/>
              </a:rPr>
              <a:t>K.Eekshanika-25MVCSMR0236</a:t>
            </a:r>
          </a:p>
          <a:p>
            <a:pPr algn="ctr">
              <a:lnSpc>
                <a:spcPts val="3347"/>
              </a:lnSpc>
            </a:pPr>
            <a:endParaRPr lang="en-US" sz="2391" dirty="0">
              <a:solidFill>
                <a:srgbClr val="082D4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47"/>
              </a:lnSpc>
            </a:pPr>
            <a:endParaRPr lang="en-US" sz="2391" dirty="0">
              <a:solidFill>
                <a:srgbClr val="082D4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9353" y="772321"/>
            <a:ext cx="8716279" cy="205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2"/>
              </a:lnSpc>
            </a:pPr>
            <a:r>
              <a:rPr lang="en-US" sz="6618" b="1" spc="132">
                <a:solidFill>
                  <a:srgbClr val="092A4B"/>
                </a:solidFill>
                <a:latin typeface="Rosario Bold"/>
                <a:ea typeface="Rosario Bold"/>
                <a:cs typeface="Rosario Bold"/>
                <a:sym typeface="Rosario Bold"/>
              </a:rPr>
              <a:t>PROBLEM AND SOLUTION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346" y="3944973"/>
            <a:ext cx="5676669" cy="78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368" b="1">
                <a:solidFill>
                  <a:srgbClr val="0F7D7A"/>
                </a:solidFill>
                <a:latin typeface="Cabin Bold"/>
                <a:ea typeface="Cabin Bold"/>
                <a:cs typeface="Cabin Bold"/>
                <a:sym typeface="Cabin Bold"/>
              </a:rPr>
              <a:t>THE CHALLENGE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7185" y="5416536"/>
            <a:ext cx="7624612" cy="2259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4035">
                <a:solidFill>
                  <a:srgbClr val="253857"/>
                </a:solidFill>
                <a:latin typeface="Cabin"/>
                <a:ea typeface="Cabin"/>
                <a:cs typeface="Cabin"/>
                <a:sym typeface="Cabin"/>
              </a:rPr>
              <a:t>Passengers need an efficient way</a:t>
            </a:r>
          </a:p>
          <a:p>
            <a:pPr algn="l">
              <a:lnSpc>
                <a:spcPts val="6053"/>
              </a:lnSpc>
            </a:pPr>
            <a:r>
              <a:rPr lang="en-US" sz="4035">
                <a:solidFill>
                  <a:srgbClr val="253857"/>
                </a:solidFill>
                <a:latin typeface="Cabin"/>
                <a:ea typeface="Cabin"/>
                <a:cs typeface="Cabin"/>
                <a:sym typeface="Cabin"/>
              </a:rPr>
              <a:t>to report and track complaints about buses, routes, and locations.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23356" y="3944973"/>
            <a:ext cx="6035944" cy="78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368" b="1">
                <a:solidFill>
                  <a:srgbClr val="0F7D7A"/>
                </a:solidFill>
                <a:latin typeface="Cabin Bold"/>
                <a:ea typeface="Cabin Bold"/>
                <a:cs typeface="Cabin Bold"/>
                <a:sym typeface="Cabin Bold"/>
              </a:rPr>
              <a:t>OUR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65880" y="5503263"/>
            <a:ext cx="8335329" cy="217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4"/>
              </a:lnSpc>
            </a:pPr>
            <a:r>
              <a:rPr lang="en-US" sz="3923">
                <a:solidFill>
                  <a:srgbClr val="253857"/>
                </a:solidFill>
                <a:latin typeface="Cabin"/>
                <a:ea typeface="Cabin"/>
                <a:cs typeface="Cabin"/>
                <a:sym typeface="Cabin"/>
              </a:rPr>
              <a:t>A MERN stack web portal for seamless complaint management with</a:t>
            </a:r>
          </a:p>
          <a:p>
            <a:pPr algn="l">
              <a:lnSpc>
                <a:spcPts val="5884"/>
              </a:lnSpc>
            </a:pPr>
            <a:r>
              <a:rPr lang="en-US" sz="3923">
                <a:solidFill>
                  <a:srgbClr val="253857"/>
                </a:solidFill>
                <a:latin typeface="Cabin"/>
                <a:ea typeface="Cabin"/>
                <a:cs typeface="Cabin"/>
                <a:sym typeface="Cabin"/>
              </a:rPr>
              <a:t>real-time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8335" y="586251"/>
            <a:ext cx="9102404" cy="107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2"/>
              </a:lnSpc>
            </a:pPr>
            <a:r>
              <a:rPr lang="en-US" sz="6287" b="1" spc="-125">
                <a:solidFill>
                  <a:srgbClr val="103257"/>
                </a:solidFill>
                <a:latin typeface="Rosario Bold"/>
                <a:ea typeface="Rosario Bold"/>
                <a:cs typeface="Rosario Bold"/>
                <a:sym typeface="Rosario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4579" y="2335431"/>
            <a:ext cx="12478065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303B50"/>
                </a:solidFill>
                <a:latin typeface="Rosario"/>
                <a:ea typeface="Rosario"/>
                <a:cs typeface="Rosario"/>
                <a:sym typeface="Rosario"/>
              </a:rPr>
              <a:t>Built on the </a:t>
            </a:r>
            <a:r>
              <a:rPr lang="en-US" sz="2487" b="1" spc="-49">
                <a:solidFill>
                  <a:srgbClr val="0F807B"/>
                </a:solidFill>
                <a:latin typeface="Rosario Bold"/>
                <a:ea typeface="Rosario Bold"/>
                <a:cs typeface="Rosario Bold"/>
                <a:sym typeface="Rosario Bold"/>
              </a:rPr>
              <a:t>MERN</a:t>
            </a:r>
            <a:r>
              <a:rPr lang="en-US" sz="2487" spc="-49">
                <a:solidFill>
                  <a:srgbClr val="303B50"/>
                </a:solidFill>
                <a:latin typeface="Rosario"/>
                <a:ea typeface="Rosario"/>
                <a:cs typeface="Rosario"/>
                <a:sym typeface="Rosario"/>
              </a:rPr>
              <a:t> stack for a scalable and efficient complaint management system.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3214004"/>
            <a:ext cx="4582938" cy="4503979"/>
          </a:xfrm>
          <a:custGeom>
            <a:avLst/>
            <a:gdLst/>
            <a:ahLst/>
            <a:cxnLst/>
            <a:rect l="l" t="t" r="r" b="b"/>
            <a:pathLst>
              <a:path w="4582938" h="4503979">
                <a:moveTo>
                  <a:pt x="0" y="0"/>
                </a:moveTo>
                <a:lnTo>
                  <a:pt x="4582938" y="0"/>
                </a:lnTo>
                <a:lnTo>
                  <a:pt x="458293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4086" y="321400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09853" y="3474631"/>
            <a:ext cx="1689655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spc="-48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FRONTEND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4436" y="4606103"/>
            <a:ext cx="1540487" cy="56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168" b="1" spc="-63">
                <a:solidFill>
                  <a:srgbClr val="0F807B"/>
                </a:solidFill>
                <a:latin typeface="Cabin Bold"/>
                <a:ea typeface="Cabin Bold"/>
                <a:cs typeface="Cabin Bold"/>
                <a:sym typeface="Cabin Bold"/>
              </a:rPr>
              <a:t>React.js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04394" y="5422904"/>
            <a:ext cx="2500572" cy="137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spc="-49">
                <a:solidFill>
                  <a:srgbClr val="303B50"/>
                </a:solidFill>
                <a:latin typeface="Rosario"/>
                <a:ea typeface="Rosario"/>
                <a:cs typeface="Rosario"/>
                <a:sym typeface="Rosario"/>
              </a:rPr>
              <a:t>Interactive UI for passengers and administrators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529866" y="3214004"/>
            <a:ext cx="4801694" cy="4503979"/>
          </a:xfrm>
          <a:custGeom>
            <a:avLst/>
            <a:gdLst/>
            <a:ahLst/>
            <a:cxnLst/>
            <a:rect l="l" t="t" r="r" b="b"/>
            <a:pathLst>
              <a:path w="4801694" h="4503979">
                <a:moveTo>
                  <a:pt x="0" y="0"/>
                </a:moveTo>
                <a:lnTo>
                  <a:pt x="4801694" y="0"/>
                </a:lnTo>
                <a:lnTo>
                  <a:pt x="4801694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529866" y="3214004"/>
            <a:ext cx="4801694" cy="1082267"/>
          </a:xfrm>
          <a:custGeom>
            <a:avLst/>
            <a:gdLst/>
            <a:ahLst/>
            <a:cxnLst/>
            <a:rect l="l" t="t" r="r" b="b"/>
            <a:pathLst>
              <a:path w="4801694" h="1082267">
                <a:moveTo>
                  <a:pt x="0" y="0"/>
                </a:moveTo>
                <a:lnTo>
                  <a:pt x="4801694" y="0"/>
                </a:lnTo>
                <a:lnTo>
                  <a:pt x="4801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164814" y="3474631"/>
            <a:ext cx="1464203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spc="-48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BACKEND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9088" y="4606103"/>
            <a:ext cx="3502796" cy="56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168" b="1" spc="-63">
                <a:solidFill>
                  <a:srgbClr val="103257"/>
                </a:solidFill>
                <a:latin typeface="Cabin Bold"/>
                <a:ea typeface="Cabin Bold"/>
                <a:cs typeface="Cabin Bold"/>
                <a:sym typeface="Cabin Bold"/>
              </a:rPr>
              <a:t>Express &amp; Node.js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38256" y="5422903"/>
            <a:ext cx="2717320" cy="137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spc="-49">
                <a:solidFill>
                  <a:srgbClr val="303B50"/>
                </a:solidFill>
                <a:latin typeface="Rosario"/>
                <a:ea typeface="Rosario"/>
                <a:cs typeface="Rosario"/>
                <a:sym typeface="Rosario"/>
              </a:rPr>
              <a:t>REST API handling business logic and</a:t>
            </a:r>
          </a:p>
          <a:p>
            <a:pPr algn="ctr">
              <a:lnSpc>
                <a:spcPts val="3730"/>
              </a:lnSpc>
            </a:pPr>
            <a:r>
              <a:rPr lang="en-US" sz="2487" spc="-49">
                <a:solidFill>
                  <a:srgbClr val="303B50"/>
                </a:solidFill>
                <a:latin typeface="Rosario"/>
                <a:ea typeface="Rosario"/>
                <a:cs typeface="Rosario"/>
                <a:sym typeface="Rosario"/>
              </a:rPr>
              <a:t>CRUD operations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622220" y="3214004"/>
            <a:ext cx="4582938" cy="4503979"/>
          </a:xfrm>
          <a:custGeom>
            <a:avLst/>
            <a:gdLst/>
            <a:ahLst/>
            <a:cxnLst/>
            <a:rect l="l" t="t" r="r" b="b"/>
            <a:pathLst>
              <a:path w="4582938" h="4503979">
                <a:moveTo>
                  <a:pt x="0" y="0"/>
                </a:moveTo>
                <a:lnTo>
                  <a:pt x="4582938" y="0"/>
                </a:lnTo>
                <a:lnTo>
                  <a:pt x="458293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622220" y="321400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052693" y="3474631"/>
            <a:ext cx="1582788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spc="-48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DATABASE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78759" y="4606103"/>
            <a:ext cx="1930657" cy="56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168" b="1" spc="-63">
                <a:solidFill>
                  <a:srgbClr val="0F807B"/>
                </a:solidFill>
                <a:latin typeface="Cabin Bold"/>
                <a:ea typeface="Cabin Bold"/>
                <a:cs typeface="Cabin Bold"/>
                <a:sym typeface="Cabin Bold"/>
              </a:rPr>
              <a:t>MongoDB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27143" y="5422904"/>
            <a:ext cx="3233889" cy="137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spc="-49">
                <a:solidFill>
                  <a:srgbClr val="303B50"/>
                </a:solidFill>
                <a:latin typeface="Rosario"/>
                <a:ea typeface="Rosario"/>
                <a:cs typeface="Rosario"/>
                <a:sym typeface="Rosario"/>
              </a:rPr>
              <a:t>Stores buses, routes, complaints, locations, and statuses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5436086" y="5356674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528440" y="5356674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040708" y="7499343"/>
            <a:ext cx="1968804" cy="1716322"/>
          </a:xfrm>
          <a:custGeom>
            <a:avLst/>
            <a:gdLst/>
            <a:ahLst/>
            <a:cxnLst/>
            <a:rect l="l" t="t" r="r" b="b"/>
            <a:pathLst>
              <a:path w="1968804" h="1716322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706488" y="7499343"/>
            <a:ext cx="437512" cy="863627"/>
          </a:xfrm>
          <a:custGeom>
            <a:avLst/>
            <a:gdLst/>
            <a:ahLst/>
            <a:cxnLst/>
            <a:rect l="l" t="t" r="r" b="b"/>
            <a:pathLst>
              <a:path w="437512" h="863627">
                <a:moveTo>
                  <a:pt x="0" y="0"/>
                </a:moveTo>
                <a:lnTo>
                  <a:pt x="437512" y="0"/>
                </a:lnTo>
                <a:lnTo>
                  <a:pt x="43751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059732" y="7499343"/>
            <a:ext cx="1968804" cy="1716322"/>
          </a:xfrm>
          <a:custGeom>
            <a:avLst/>
            <a:gdLst/>
            <a:ahLst/>
            <a:cxnLst/>
            <a:rect l="l" t="t" r="r" b="b"/>
            <a:pathLst>
              <a:path w="1968804" h="1716322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4779818" y="8133399"/>
            <a:ext cx="8509608" cy="1727254"/>
          </a:xfrm>
          <a:custGeom>
            <a:avLst/>
            <a:gdLst/>
            <a:ahLst/>
            <a:cxnLst/>
            <a:rect l="l" t="t" r="r" b="b"/>
            <a:pathLst>
              <a:path w="8509608" h="1727254">
                <a:moveTo>
                  <a:pt x="0" y="0"/>
                </a:moveTo>
                <a:lnTo>
                  <a:pt x="8509608" y="0"/>
                </a:lnTo>
                <a:lnTo>
                  <a:pt x="850960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997469" y="8444708"/>
            <a:ext cx="1786034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spc="-48">
                <a:solidFill>
                  <a:srgbClr val="103257"/>
                </a:solidFill>
                <a:latin typeface="Rosario Bold"/>
                <a:ea typeface="Rosario Bold"/>
                <a:cs typeface="Rosario Bold"/>
                <a:sym typeface="Rosario Bold"/>
              </a:rPr>
              <a:t>DATA FLOW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2258" y="8866244"/>
            <a:ext cx="6829133" cy="77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109" spc="-42">
                <a:solidFill>
                  <a:srgbClr val="303B50"/>
                </a:solidFill>
                <a:latin typeface="Rosario"/>
                <a:ea typeface="Rosario"/>
                <a:cs typeface="Rosario"/>
                <a:sym typeface="Rosario"/>
              </a:rPr>
              <a:t>Users submit complaints → API processes requests → Data stored and retrieved from MongoDB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2483" y="799452"/>
            <a:ext cx="8082163" cy="183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7"/>
              </a:lnSpc>
            </a:pPr>
            <a:r>
              <a:rPr lang="en-US" sz="6343" b="1" spc="126">
                <a:solidFill>
                  <a:srgbClr val="082649"/>
                </a:solidFill>
                <a:latin typeface="Rosario Bold"/>
                <a:ea typeface="Rosario Bold"/>
                <a:cs typeface="Rosario Bold"/>
                <a:sym typeface="Rosario Bold"/>
              </a:rPr>
              <a:t>CORE FEATURES &amp; </a:t>
            </a:r>
          </a:p>
          <a:p>
            <a:pPr algn="l">
              <a:lnSpc>
                <a:spcPts val="7297"/>
              </a:lnSpc>
            </a:pPr>
            <a:r>
              <a:rPr lang="en-US" sz="6343" b="1" spc="126">
                <a:solidFill>
                  <a:srgbClr val="082649"/>
                </a:solidFill>
                <a:latin typeface="Rosario Bold"/>
                <a:ea typeface="Rosario Bold"/>
                <a:cs typeface="Rosario Bold"/>
                <a:sym typeface="Rosario Bold"/>
              </a:rPr>
              <a:t>CRUD OPERATIONS</a:t>
            </a:r>
          </a:p>
        </p:txBody>
      </p:sp>
      <p:sp>
        <p:nvSpPr>
          <p:cNvPr id="3" name="Freeform 3"/>
          <p:cNvSpPr/>
          <p:nvPr/>
        </p:nvSpPr>
        <p:spPr>
          <a:xfrm>
            <a:off x="645330" y="2995365"/>
            <a:ext cx="2187560" cy="229572"/>
          </a:xfrm>
          <a:custGeom>
            <a:avLst/>
            <a:gdLst/>
            <a:ahLst/>
            <a:cxnLst/>
            <a:rect l="l" t="t" r="r" b="b"/>
            <a:pathLst>
              <a:path w="2187560" h="229572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5330" y="3640352"/>
            <a:ext cx="2625072" cy="1289974"/>
          </a:xfrm>
          <a:custGeom>
            <a:avLst/>
            <a:gdLst/>
            <a:ahLst/>
            <a:cxnLst/>
            <a:rect l="l" t="t" r="r" b="b"/>
            <a:pathLst>
              <a:path w="2625072" h="1289974">
                <a:moveTo>
                  <a:pt x="0" y="0"/>
                </a:moveTo>
                <a:lnTo>
                  <a:pt x="2625072" y="0"/>
                </a:lnTo>
                <a:lnTo>
                  <a:pt x="262507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040708" y="3640352"/>
            <a:ext cx="8857161" cy="1245493"/>
          </a:xfrm>
          <a:custGeom>
            <a:avLst/>
            <a:gdLst/>
            <a:ahLst/>
            <a:cxnLst/>
            <a:rect l="l" t="t" r="r" b="b"/>
            <a:pathLst>
              <a:path w="8857161" h="1245493">
                <a:moveTo>
                  <a:pt x="0" y="0"/>
                </a:moveTo>
                <a:lnTo>
                  <a:pt x="8857161" y="0"/>
                </a:lnTo>
                <a:lnTo>
                  <a:pt x="8857161" y="1245493"/>
                </a:lnTo>
                <a:lnTo>
                  <a:pt x="0" y="1245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8297" b="-5186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68547" y="3904693"/>
            <a:ext cx="6288320" cy="8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2709" spc="-54">
                <a:solidFill>
                  <a:srgbClr val="303B5B"/>
                </a:solidFill>
                <a:latin typeface="Rosario"/>
                <a:ea typeface="Rosario"/>
                <a:cs typeface="Rosario"/>
                <a:sym typeface="Rosario"/>
              </a:rPr>
              <a:t>Manage bus fleet details and related information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4711687"/>
            <a:ext cx="2625072" cy="1289974"/>
          </a:xfrm>
          <a:custGeom>
            <a:avLst/>
            <a:gdLst/>
            <a:ahLst/>
            <a:cxnLst/>
            <a:rect l="l" t="t" r="r" b="b"/>
            <a:pathLst>
              <a:path w="2625072" h="1289974">
                <a:moveTo>
                  <a:pt x="0" y="0"/>
                </a:moveTo>
                <a:lnTo>
                  <a:pt x="2625072" y="0"/>
                </a:lnTo>
                <a:lnTo>
                  <a:pt x="262507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7617" y="5243611"/>
            <a:ext cx="1687711" cy="32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321" b="1" spc="-46">
                <a:solidFill>
                  <a:srgbClr val="E0F0F1"/>
                </a:solidFill>
                <a:latin typeface="Cabin Bold"/>
                <a:ea typeface="Cabin Bold"/>
                <a:cs typeface="Cabin Bold"/>
                <a:sym typeface="Cabin Bold"/>
              </a:rPr>
              <a:t>ROUTES</a:t>
            </a:r>
          </a:p>
        </p:txBody>
      </p:sp>
      <p:sp>
        <p:nvSpPr>
          <p:cNvPr id="9" name="Freeform 9"/>
          <p:cNvSpPr/>
          <p:nvPr/>
        </p:nvSpPr>
        <p:spPr>
          <a:xfrm>
            <a:off x="3040708" y="5101978"/>
            <a:ext cx="8519087" cy="899683"/>
          </a:xfrm>
          <a:custGeom>
            <a:avLst/>
            <a:gdLst/>
            <a:ahLst/>
            <a:cxnLst/>
            <a:rect l="l" t="t" r="r" b="b"/>
            <a:pathLst>
              <a:path w="8519087" h="899683">
                <a:moveTo>
                  <a:pt x="0" y="0"/>
                </a:moveTo>
                <a:lnTo>
                  <a:pt x="8519087" y="0"/>
                </a:lnTo>
                <a:lnTo>
                  <a:pt x="8519087" y="899683"/>
                </a:lnTo>
                <a:lnTo>
                  <a:pt x="0" y="899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08535" b="-5799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70446" y="5019195"/>
            <a:ext cx="5229104" cy="8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2709" spc="-54">
                <a:solidFill>
                  <a:srgbClr val="303B5B"/>
                </a:solidFill>
                <a:latin typeface="Rosario"/>
                <a:ea typeface="Rosario"/>
                <a:cs typeface="Rosario"/>
                <a:sym typeface="Rosario"/>
              </a:rPr>
              <a:t>Maintain routes, stops, and schedules with ease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5990729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0708" y="6161836"/>
            <a:ext cx="8398346" cy="911160"/>
          </a:xfrm>
          <a:custGeom>
            <a:avLst/>
            <a:gdLst/>
            <a:ahLst/>
            <a:cxnLst/>
            <a:rect l="l" t="t" r="r" b="b"/>
            <a:pathLst>
              <a:path w="8398346" h="911160">
                <a:moveTo>
                  <a:pt x="0" y="0"/>
                </a:moveTo>
                <a:lnTo>
                  <a:pt x="8398346" y="0"/>
                </a:lnTo>
                <a:lnTo>
                  <a:pt x="8398346" y="911160"/>
                </a:lnTo>
                <a:lnTo>
                  <a:pt x="0" y="9111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76039" b="-4162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367630" y="6104686"/>
            <a:ext cx="5975311" cy="9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 spc="-110">
                <a:solidFill>
                  <a:srgbClr val="2F3959"/>
                </a:solidFill>
                <a:latin typeface="Rosario"/>
                <a:ea typeface="Rosario"/>
                <a:cs typeface="Rosario"/>
                <a:sym typeface="Rosario"/>
              </a:rPr>
              <a:t>Track and organize locations across the network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330" y="7062064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37617" y="7505565"/>
            <a:ext cx="2009180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 spc="-9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COMPLAINTS</a:t>
            </a:r>
          </a:p>
        </p:txBody>
      </p:sp>
      <p:sp>
        <p:nvSpPr>
          <p:cNvPr id="16" name="Freeform 16"/>
          <p:cNvSpPr/>
          <p:nvPr/>
        </p:nvSpPr>
        <p:spPr>
          <a:xfrm>
            <a:off x="3040708" y="7276338"/>
            <a:ext cx="8205161" cy="867992"/>
          </a:xfrm>
          <a:custGeom>
            <a:avLst/>
            <a:gdLst/>
            <a:ahLst/>
            <a:cxnLst/>
            <a:rect l="l" t="t" r="r" b="b"/>
            <a:pathLst>
              <a:path w="8205161" h="867992">
                <a:moveTo>
                  <a:pt x="0" y="0"/>
                </a:moveTo>
                <a:lnTo>
                  <a:pt x="8205161" y="0"/>
                </a:lnTo>
                <a:lnTo>
                  <a:pt x="8205161" y="867992"/>
                </a:lnTo>
                <a:lnTo>
                  <a:pt x="0" y="867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74856" b="-4837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269318" y="7170892"/>
            <a:ext cx="6600106" cy="95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 spc="-109">
                <a:solidFill>
                  <a:srgbClr val="2F3959"/>
                </a:solidFill>
                <a:latin typeface="Rosario"/>
                <a:ea typeface="Rosario"/>
                <a:cs typeface="Rosario"/>
                <a:sym typeface="Rosario"/>
              </a:rPr>
              <a:t>Capture, manage, and resolve passenger complaints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5330" y="8133399"/>
            <a:ext cx="2625072" cy="1300906"/>
          </a:xfrm>
          <a:custGeom>
            <a:avLst/>
            <a:gdLst/>
            <a:ahLst/>
            <a:cxnLst/>
            <a:rect l="l" t="t" r="r" b="b"/>
            <a:pathLst>
              <a:path w="2625072" h="1300906">
                <a:moveTo>
                  <a:pt x="0" y="0"/>
                </a:moveTo>
                <a:lnTo>
                  <a:pt x="2625072" y="0"/>
                </a:lnTo>
                <a:lnTo>
                  <a:pt x="262507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040708" y="8315780"/>
            <a:ext cx="7867087" cy="1118524"/>
          </a:xfrm>
          <a:custGeom>
            <a:avLst/>
            <a:gdLst/>
            <a:ahLst/>
            <a:cxnLst/>
            <a:rect l="l" t="t" r="r" b="b"/>
            <a:pathLst>
              <a:path w="7867087" h="1118524">
                <a:moveTo>
                  <a:pt x="0" y="0"/>
                </a:moveTo>
                <a:lnTo>
                  <a:pt x="7867087" y="0"/>
                </a:lnTo>
                <a:lnTo>
                  <a:pt x="7867087" y="1118525"/>
                </a:lnTo>
                <a:lnTo>
                  <a:pt x="0" y="1118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66251" r="-8287" b="-4994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364811" y="8363812"/>
            <a:ext cx="6951652" cy="9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 spc="-110">
                <a:solidFill>
                  <a:srgbClr val="2F3959"/>
                </a:solidFill>
                <a:latin typeface="Rosario"/>
                <a:ea typeface="Rosario"/>
                <a:cs typeface="Rosario"/>
                <a:sym typeface="Rosario"/>
              </a:rPr>
              <a:t>Monitor complaint status from submission to resolution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533746" y="2995365"/>
            <a:ext cx="4614001" cy="4572805"/>
          </a:xfrm>
          <a:custGeom>
            <a:avLst/>
            <a:gdLst/>
            <a:ahLst/>
            <a:cxnLst/>
            <a:rect l="l" t="t" r="r" b="b"/>
            <a:pathLst>
              <a:path w="4614001" h="4572805">
                <a:moveTo>
                  <a:pt x="0" y="0"/>
                </a:moveTo>
                <a:lnTo>
                  <a:pt x="4614001" y="0"/>
                </a:lnTo>
                <a:lnTo>
                  <a:pt x="4614001" y="4572804"/>
                </a:lnTo>
                <a:lnTo>
                  <a:pt x="0" y="45728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3749" b="-1374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768315" y="2828535"/>
            <a:ext cx="4041393" cy="41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3"/>
              </a:lnSpc>
            </a:pPr>
            <a:r>
              <a:rPr lang="en-US" sz="2819" b="1" spc="-56">
                <a:solidFill>
                  <a:srgbClr val="20928B"/>
                </a:solidFill>
                <a:latin typeface="Rosario Bold"/>
                <a:ea typeface="Rosario Bold"/>
                <a:cs typeface="Rosario Bold"/>
                <a:sym typeface="Rosario Bold"/>
              </a:rPr>
              <a:t>FULL CRUD SUPPORT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567175" y="3493928"/>
            <a:ext cx="1483719" cy="34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sz="2419" b="1" spc="-48">
                <a:solidFill>
                  <a:srgbClr val="162D51"/>
                </a:solidFill>
                <a:latin typeface="Rosario Bold"/>
                <a:ea typeface="Rosario Bold"/>
                <a:cs typeface="Rosario Bold"/>
                <a:sym typeface="Rosario Bold"/>
              </a:rPr>
              <a:t>CREATE</a:t>
            </a:r>
          </a:p>
        </p:txBody>
      </p:sp>
      <p:sp>
        <p:nvSpPr>
          <p:cNvPr id="24" name="Freeform 24"/>
          <p:cNvSpPr/>
          <p:nvPr/>
        </p:nvSpPr>
        <p:spPr>
          <a:xfrm>
            <a:off x="15083865" y="3700426"/>
            <a:ext cx="346050" cy="775052"/>
          </a:xfrm>
          <a:custGeom>
            <a:avLst/>
            <a:gdLst/>
            <a:ahLst/>
            <a:cxnLst/>
            <a:rect l="l" t="t" r="r" b="b"/>
            <a:pathLst>
              <a:path w="346050" h="775052">
                <a:moveTo>
                  <a:pt x="0" y="0"/>
                </a:moveTo>
                <a:lnTo>
                  <a:pt x="346050" y="0"/>
                </a:lnTo>
                <a:lnTo>
                  <a:pt x="346050" y="775052"/>
                </a:lnTo>
                <a:lnTo>
                  <a:pt x="0" y="7750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3749" b="-13749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777323" y="4508317"/>
            <a:ext cx="1063423" cy="34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sz="2419" b="1" spc="-48">
                <a:solidFill>
                  <a:srgbClr val="162D51"/>
                </a:solidFill>
                <a:latin typeface="Rosario Bold"/>
                <a:ea typeface="Rosario Bold"/>
                <a:cs typeface="Rosario Bold"/>
                <a:sym typeface="Rosario Bold"/>
              </a:rPr>
              <a:t>READ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083865" y="4720911"/>
            <a:ext cx="346050" cy="762134"/>
          </a:xfrm>
          <a:custGeom>
            <a:avLst/>
            <a:gdLst/>
            <a:ahLst/>
            <a:cxnLst/>
            <a:rect l="l" t="t" r="r" b="b"/>
            <a:pathLst>
              <a:path w="346050" h="762134">
                <a:moveTo>
                  <a:pt x="0" y="0"/>
                </a:moveTo>
                <a:lnTo>
                  <a:pt x="346050" y="0"/>
                </a:lnTo>
                <a:lnTo>
                  <a:pt x="346050" y="762134"/>
                </a:lnTo>
                <a:lnTo>
                  <a:pt x="0" y="76213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3749" b="-13749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529292" y="5552091"/>
            <a:ext cx="1528006" cy="31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2419" b="1" spc="-96">
                <a:solidFill>
                  <a:srgbClr val="092649"/>
                </a:solidFill>
                <a:latin typeface="Rosario Bold"/>
                <a:ea typeface="Rosario Bold"/>
                <a:cs typeface="Rosario Bold"/>
                <a:sym typeface="Rosario Bold"/>
              </a:rPr>
              <a:t>UPDATE</a:t>
            </a:r>
          </a:p>
        </p:txBody>
      </p:sp>
      <p:sp>
        <p:nvSpPr>
          <p:cNvPr id="28" name="Freeform 28"/>
          <p:cNvSpPr/>
          <p:nvPr/>
        </p:nvSpPr>
        <p:spPr>
          <a:xfrm>
            <a:off x="15083865" y="5728478"/>
            <a:ext cx="346050" cy="775052"/>
          </a:xfrm>
          <a:custGeom>
            <a:avLst/>
            <a:gdLst/>
            <a:ahLst/>
            <a:cxnLst/>
            <a:rect l="l" t="t" r="r" b="b"/>
            <a:pathLst>
              <a:path w="346050" h="775052">
                <a:moveTo>
                  <a:pt x="0" y="0"/>
                </a:moveTo>
                <a:lnTo>
                  <a:pt x="346050" y="0"/>
                </a:lnTo>
                <a:lnTo>
                  <a:pt x="346050" y="775052"/>
                </a:lnTo>
                <a:lnTo>
                  <a:pt x="0" y="7750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3749" b="-13749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4609272" y="6566479"/>
            <a:ext cx="1368044" cy="31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2419" b="1" spc="-96">
                <a:solidFill>
                  <a:srgbClr val="092649"/>
                </a:solidFill>
                <a:latin typeface="Rosario Bold"/>
                <a:ea typeface="Rosario Bold"/>
                <a:cs typeface="Rosario Bold"/>
                <a:sym typeface="Rosario Bold"/>
              </a:rPr>
              <a:t>DELETE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80009" y="7678674"/>
            <a:ext cx="4418004" cy="37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9"/>
              </a:lnSpc>
            </a:pPr>
            <a:r>
              <a:rPr lang="en-US" sz="2819" b="1" spc="-112">
                <a:solidFill>
                  <a:srgbClr val="20948B"/>
                </a:solidFill>
                <a:latin typeface="Rosario Bold"/>
                <a:ea typeface="Rosario Bold"/>
                <a:cs typeface="Rosario Bold"/>
                <a:sym typeface="Rosario Bold"/>
              </a:rPr>
              <a:t>POWERED BY REST APIS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7617" y="4129109"/>
            <a:ext cx="1687711" cy="32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321" b="1" spc="-46">
                <a:solidFill>
                  <a:srgbClr val="E0F0F1"/>
                </a:solidFill>
                <a:latin typeface="Cabin Bold"/>
                <a:ea typeface="Cabin Bold"/>
                <a:cs typeface="Cabin Bold"/>
                <a:sym typeface="Cabin Bold"/>
              </a:rPr>
              <a:t>BUSES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7617" y="6391063"/>
            <a:ext cx="2009180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 spc="-9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LOCATIONS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5173" y="8626041"/>
            <a:ext cx="2009180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 spc="-95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603" y="869288"/>
            <a:ext cx="8491262" cy="189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4"/>
              </a:lnSpc>
            </a:pPr>
            <a:r>
              <a:rPr lang="en-US" sz="6566" b="1" spc="131">
                <a:solidFill>
                  <a:srgbClr val="082649"/>
                </a:solidFill>
                <a:latin typeface="Cabin Bold"/>
                <a:ea typeface="Cabin Bold"/>
                <a:cs typeface="Cabin Bold"/>
                <a:sym typeface="Cabin Bold"/>
              </a:rPr>
              <a:t>AUTHENTICATION &amp; ROLE-BASED ACCESS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1603" y="3458712"/>
            <a:ext cx="5899098" cy="1112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2851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Secure sign-in protects user accounts and data.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4919394"/>
            <a:ext cx="4364182" cy="229572"/>
          </a:xfrm>
          <a:custGeom>
            <a:avLst/>
            <a:gdLst/>
            <a:ahLst/>
            <a:cxnLst/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1603" y="5002037"/>
            <a:ext cx="6581308" cy="104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2811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Commuters can report and view complaints.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6428009"/>
            <a:ext cx="4364182" cy="218640"/>
          </a:xfrm>
          <a:custGeom>
            <a:avLst/>
            <a:gdLst/>
            <a:ahLst/>
            <a:cxnLst/>
            <a:rect l="l" t="t" r="r" b="b"/>
            <a:pathLst>
              <a:path w="4364182" h="218640">
                <a:moveTo>
                  <a:pt x="0" y="0"/>
                </a:moveTo>
                <a:lnTo>
                  <a:pt x="4364182" y="0"/>
                </a:lnTo>
                <a:lnTo>
                  <a:pt x="436418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5330" y="6507430"/>
            <a:ext cx="4670034" cy="104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2811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Admins manage records and update complaint status.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7707051"/>
            <a:ext cx="4364182" cy="437279"/>
          </a:xfrm>
          <a:custGeom>
            <a:avLst/>
            <a:gdLst/>
            <a:ahLst/>
            <a:cxnLst/>
            <a:rect l="l" t="t" r="r" b="b"/>
            <a:pathLst>
              <a:path w="4364182" h="437279">
                <a:moveTo>
                  <a:pt x="0" y="0"/>
                </a:moveTo>
                <a:lnTo>
                  <a:pt x="4364182" y="0"/>
                </a:lnTo>
                <a:lnTo>
                  <a:pt x="436418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45330" y="8010036"/>
            <a:ext cx="5135061" cy="107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2911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Role-based access keeps the system secure and reliable.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8050220" y="4711687"/>
            <a:ext cx="6978316" cy="1289974"/>
          </a:xfrm>
          <a:custGeom>
            <a:avLst/>
            <a:gdLst/>
            <a:ahLst/>
            <a:cxnLst/>
            <a:rect l="l" t="t" r="r" b="b"/>
            <a:pathLst>
              <a:path w="6978316" h="1289974">
                <a:moveTo>
                  <a:pt x="0" y="0"/>
                </a:moveTo>
                <a:lnTo>
                  <a:pt x="6978316" y="0"/>
                </a:lnTo>
                <a:lnTo>
                  <a:pt x="6978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26842" y="2142670"/>
            <a:ext cx="2843828" cy="2787657"/>
          </a:xfrm>
          <a:custGeom>
            <a:avLst/>
            <a:gdLst/>
            <a:ahLst/>
            <a:cxnLst/>
            <a:rect l="l" t="t" r="r" b="b"/>
            <a:pathLst>
              <a:path w="2843828" h="2787657">
                <a:moveTo>
                  <a:pt x="0" y="0"/>
                </a:moveTo>
                <a:lnTo>
                  <a:pt x="2843828" y="0"/>
                </a:lnTo>
                <a:lnTo>
                  <a:pt x="2843828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1866" y="3421712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925713" y="2557703"/>
            <a:ext cx="1309325" cy="79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759" b="1" spc="55">
                <a:solidFill>
                  <a:srgbClr val="F0F0F0"/>
                </a:solidFill>
                <a:latin typeface="Rosario Bold"/>
                <a:ea typeface="Rosario Bold"/>
                <a:cs typeface="Rosario Bold"/>
                <a:sym typeface="Rosario Bold"/>
              </a:rPr>
              <a:t>SECURE SIGN-IN</a:t>
            </a:r>
          </a:p>
        </p:txBody>
      </p:sp>
      <p:sp>
        <p:nvSpPr>
          <p:cNvPr id="15" name="Freeform 15"/>
          <p:cNvSpPr/>
          <p:nvPr/>
        </p:nvSpPr>
        <p:spPr>
          <a:xfrm>
            <a:off x="5654842" y="6209369"/>
            <a:ext cx="5676718" cy="3224936"/>
          </a:xfrm>
          <a:custGeom>
            <a:avLst/>
            <a:gdLst/>
            <a:ahLst/>
            <a:cxnLst/>
            <a:rect l="l" t="t" r="r" b="b"/>
            <a:pathLst>
              <a:path w="5676718" h="3224936">
                <a:moveTo>
                  <a:pt x="0" y="0"/>
                </a:moveTo>
                <a:lnTo>
                  <a:pt x="5676718" y="0"/>
                </a:lnTo>
                <a:lnTo>
                  <a:pt x="567671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612708" y="6209369"/>
            <a:ext cx="3718852" cy="863627"/>
          </a:xfrm>
          <a:custGeom>
            <a:avLst/>
            <a:gdLst/>
            <a:ahLst/>
            <a:cxnLst/>
            <a:rect l="l" t="t" r="r" b="b"/>
            <a:pathLst>
              <a:path w="3718852" h="863627">
                <a:moveTo>
                  <a:pt x="0" y="0"/>
                </a:moveTo>
                <a:lnTo>
                  <a:pt x="3718852" y="0"/>
                </a:lnTo>
                <a:lnTo>
                  <a:pt x="371885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248175" y="6358534"/>
            <a:ext cx="1893806" cy="37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6"/>
              </a:lnSpc>
            </a:pPr>
            <a:r>
              <a:rPr lang="en-US" sz="2526" b="1" spc="50">
                <a:solidFill>
                  <a:srgbClr val="F0F0F0"/>
                </a:solidFill>
                <a:latin typeface="Rosario Bold"/>
                <a:ea typeface="Rosario Bold"/>
                <a:cs typeface="Rosario Bold"/>
                <a:sym typeface="Rosario Bold"/>
              </a:rPr>
              <a:t>COMMUTER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97453" y="7319766"/>
            <a:ext cx="2678906" cy="34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Report complaints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50220" y="7707051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197453" y="8208355"/>
            <a:ext cx="2678906" cy="34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View complaint status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528440" y="6209369"/>
            <a:ext cx="5895474" cy="3224936"/>
          </a:xfrm>
          <a:custGeom>
            <a:avLst/>
            <a:gdLst/>
            <a:ahLst/>
            <a:cxnLst/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923818" y="6209369"/>
            <a:ext cx="3500096" cy="863627"/>
          </a:xfrm>
          <a:custGeom>
            <a:avLst/>
            <a:gdLst/>
            <a:ahLst/>
            <a:cxnLst/>
            <a:rect l="l" t="t" r="r" b="b"/>
            <a:pathLst>
              <a:path w="3500096" h="863627">
                <a:moveTo>
                  <a:pt x="0" y="0"/>
                </a:moveTo>
                <a:lnTo>
                  <a:pt x="3500096" y="0"/>
                </a:lnTo>
                <a:lnTo>
                  <a:pt x="350009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492883" y="7319766"/>
            <a:ext cx="2678906" cy="34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Manage all records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361330" y="7707051"/>
            <a:ext cx="2625072" cy="437279"/>
          </a:xfrm>
          <a:custGeom>
            <a:avLst/>
            <a:gdLst/>
            <a:ahLst/>
            <a:cxnLst/>
            <a:rect l="l" t="t" r="r" b="b"/>
            <a:pathLst>
              <a:path w="2625072" h="437279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492883" y="8135282"/>
            <a:ext cx="2678906" cy="70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253957"/>
                </a:solidFill>
                <a:latin typeface="Rosario"/>
                <a:ea typeface="Rosario"/>
                <a:cs typeface="Rosario"/>
                <a:sym typeface="Rosario"/>
              </a:rPr>
              <a:t>Update complaint status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81894" y="6358534"/>
            <a:ext cx="1098903" cy="37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526" b="1" spc="50">
                <a:solidFill>
                  <a:srgbClr val="F0F0F0"/>
                </a:solidFill>
                <a:latin typeface="Rosario Bold"/>
                <a:ea typeface="Rosario Bold"/>
                <a:cs typeface="Rosario Bold"/>
                <a:sym typeface="Rosario Bold"/>
              </a:rPr>
              <a:t>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6580" y="855664"/>
            <a:ext cx="4672464" cy="195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8"/>
              </a:lnSpc>
            </a:pPr>
            <a:r>
              <a:rPr lang="en-US" sz="6480" b="1">
                <a:solidFill>
                  <a:srgbClr val="08203F"/>
                </a:solidFill>
                <a:latin typeface="Cabin Bold"/>
                <a:ea typeface="Cabin Bold"/>
                <a:cs typeface="Cabin Bold"/>
                <a:sym typeface="Cabin Bold"/>
              </a:rPr>
              <a:t>SUMMARY &amp; 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6580" y="3892103"/>
            <a:ext cx="15595431" cy="76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5"/>
              </a:lnSpc>
            </a:pPr>
            <a:r>
              <a:rPr lang="en-US" sz="4475" spc="-133">
                <a:solidFill>
                  <a:srgbClr val="1F2942"/>
                </a:solidFill>
                <a:latin typeface="Rosario"/>
                <a:ea typeface="Rosario"/>
                <a:cs typeface="Rosario"/>
                <a:sym typeface="Rosario"/>
              </a:rPr>
              <a:t>The MERN stack powers a robust, scalable complaint portal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5330" y="5340534"/>
            <a:ext cx="16926075" cy="76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5"/>
              </a:lnSpc>
            </a:pPr>
            <a:r>
              <a:rPr lang="en-US" sz="4475" spc="-133">
                <a:solidFill>
                  <a:srgbClr val="1F2942"/>
                </a:solidFill>
                <a:latin typeface="Rosario"/>
                <a:ea typeface="Rosario"/>
                <a:cs typeface="Rosario"/>
                <a:sym typeface="Rosario"/>
              </a:rPr>
              <a:t>Streamlined complaint management drives better public transport service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693" y="6788965"/>
            <a:ext cx="17313005" cy="155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5"/>
              </a:lnSpc>
            </a:pPr>
            <a:r>
              <a:rPr lang="en-US" sz="4475" spc="-133">
                <a:solidFill>
                  <a:srgbClr val="1F2942"/>
                </a:solidFill>
                <a:latin typeface="Rosario"/>
                <a:ea typeface="Rosario"/>
                <a:cs typeface="Rosario"/>
                <a:sym typeface="Rosario"/>
              </a:rPr>
              <a:t>Next steps: testing, deployment, </a:t>
            </a:r>
          </a:p>
          <a:p>
            <a:pPr algn="l">
              <a:lnSpc>
                <a:spcPts val="6265"/>
              </a:lnSpc>
            </a:pPr>
            <a:r>
              <a:rPr lang="en-US" sz="4475" spc="-133">
                <a:solidFill>
                  <a:srgbClr val="1F2942"/>
                </a:solidFill>
                <a:latin typeface="Rosario"/>
                <a:ea typeface="Rosario"/>
                <a:cs typeface="Rosario"/>
                <a:sym typeface="Rosario"/>
              </a:rPr>
              <a:t>user training, and feedback collection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7280704"/>
            <a:ext cx="7197072" cy="229572"/>
          </a:xfrm>
          <a:custGeom>
            <a:avLst/>
            <a:gdLst/>
            <a:ahLst/>
            <a:cxnLst/>
            <a:rect l="l" t="t" r="r" b="b"/>
            <a:pathLst>
              <a:path w="7197072" h="2295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80086" y="8133399"/>
            <a:ext cx="2843828" cy="655919"/>
          </a:xfrm>
          <a:custGeom>
            <a:avLst/>
            <a:gdLst/>
            <a:ahLst/>
            <a:cxnLst/>
            <a:rect l="l" t="t" r="r" b="b"/>
            <a:pathLst>
              <a:path w="2843828" h="655919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580086" y="8778386"/>
            <a:ext cx="2843828" cy="229572"/>
          </a:xfrm>
          <a:custGeom>
            <a:avLst/>
            <a:gdLst/>
            <a:ahLst/>
            <a:cxnLst/>
            <a:rect l="l" t="t" r="r" b="b"/>
            <a:pathLst>
              <a:path w="2843828" h="229572">
                <a:moveTo>
                  <a:pt x="0" y="0"/>
                </a:moveTo>
                <a:lnTo>
                  <a:pt x="2843828" y="0"/>
                </a:lnTo>
                <a:lnTo>
                  <a:pt x="2843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599379" y="9085918"/>
            <a:ext cx="2744868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0F4F1"/>
                </a:solidFill>
                <a:latin typeface="Rosario"/>
                <a:ea typeface="Rosario"/>
                <a:cs typeface="Rosario"/>
                <a:sym typeface="Rosario"/>
              </a:rPr>
              <a:t>Together, we can build a better commute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27690" y="3374596"/>
            <a:ext cx="12136414" cy="243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0"/>
              </a:lnSpc>
              <a:spcBef>
                <a:spcPct val="0"/>
              </a:spcBef>
            </a:pPr>
            <a:r>
              <a:rPr lang="en-US" sz="14214" b="1" spc="-423">
                <a:solidFill>
                  <a:srgbClr val="0F807B"/>
                </a:solidFill>
                <a:latin typeface="Rosario Bold"/>
                <a:ea typeface="Rosario Bold"/>
                <a:cs typeface="Rosario Bold"/>
                <a:sym typeface="Rosario Bold"/>
              </a:rPr>
              <a:t>THANKYOU!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291</Words>
  <Application>Microsoft Office PowerPoint</Application>
  <PresentationFormat>Custom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Cabin</vt:lpstr>
      <vt:lpstr>Cabin Medium</vt:lpstr>
      <vt:lpstr>Cabin Bold</vt:lpstr>
      <vt:lpstr>Canva Sans</vt:lpstr>
      <vt:lpstr>Rosario Bold</vt:lpstr>
      <vt:lpstr>Calibri</vt:lpstr>
      <vt:lpstr>Rosario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Transport Portal</dc:title>
  <cp:lastModifiedBy>doki maithreyee</cp:lastModifiedBy>
  <cp:revision>1</cp:revision>
  <dcterms:created xsi:type="dcterms:W3CDTF">2006-08-16T00:00:00Z</dcterms:created>
  <dcterms:modified xsi:type="dcterms:W3CDTF">2026-10-10T04:23:11Z</dcterms:modified>
  <dc:identifier>DAHW7QqLViQ</dc:identifier>
</cp:coreProperties>
</file>